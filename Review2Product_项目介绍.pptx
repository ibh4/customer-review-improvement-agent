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7CFF"/>
                </a:solidFill>
                <a:latin typeface="Microsoft YaHei"/>
              </a:rPr>
              <a:t>AI HACKATHON · 跨境电商赛道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035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600" b="1">
                <a:solidFill>
                  <a:srgbClr val="172033"/>
                </a:solidFill>
                <a:latin typeface="Microsoft YaHei"/>
              </a:rPr>
              <a:t>Review2Product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200" b="0">
                <a:solidFill>
                  <a:srgbClr val="344054"/>
                </a:solidFill>
                <a:latin typeface="Microsoft YaHei"/>
              </a:rPr>
              <a:t>全球消费者评论驱动的产品进化智能体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475467"/>
                </a:solidFill>
                <a:latin typeface="Microsoft YaHei"/>
              </a:rPr>
              <a:t>把 18,167 条真实亚马逊评论，变成下一代产品的工程参数。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344054"/>
                </a:solidFill>
                <a:latin typeface="Microsoft YaHei"/>
              </a:rPr>
              <a:t>差评读不完 · 痛点说不清 · 改版凭感觉 —— 我们让每一条差评都变成可执行的工程决策。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138988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96512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4F7CFF"/>
                </a:solidFill>
                <a:latin typeface="Microsoft YaHei"/>
              </a:rPr>
              <a:t>18,167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90288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44054"/>
                </a:solidFill>
                <a:latin typeface="Microsoft YaHei"/>
              </a:rPr>
              <a:t>真实评论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9696" y="3977639"/>
            <a:ext cx="138988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4096512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19B5D1"/>
                </a:solidFill>
                <a:latin typeface="Microsoft YaHe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4590288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44054"/>
                </a:solidFill>
                <a:latin typeface="Microsoft YaHei"/>
              </a:rPr>
              <a:t>在售商品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3977639"/>
            <a:ext cx="138988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4096512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7C5CFC"/>
                </a:solidFill>
                <a:latin typeface="Microsoft YaHei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590288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44054"/>
                </a:solidFill>
                <a:latin typeface="Microsoft YaHei"/>
              </a:rPr>
              <a:t>痛点类型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3977639"/>
            <a:ext cx="138988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4096512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9F43"/>
                </a:solidFill>
                <a:latin typeface="Microsoft YaHei"/>
              </a:rPr>
              <a:t>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4590288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44054"/>
                </a:solidFill>
                <a:latin typeface="Microsoft YaHei"/>
              </a:rPr>
              <a:t>参数建议</a:t>
            </a:r>
          </a:p>
        </p:txBody>
      </p:sp>
      <p:pic>
        <p:nvPicPr>
          <p:cNvPr id="18" name="Picture 17" descr="cover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868680"/>
            <a:ext cx="5029200" cy="28289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Microsoft YaHei"/>
              </a:rPr>
              <a:t>方案概述 + 技术方案 · 10 页速览（前 5 页简介 · 后 5 页详解）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4F7CFF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业务痛点：评论数据与工程决策之间的断层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三类核心用户，都被“读不完的差评”困住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01 · 方案概述</a:t>
            </a:r>
          </a:p>
        </p:txBody>
      </p:sp>
      <p:pic>
        <p:nvPicPr>
          <p:cNvPr id="7" name="Picture 6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402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4F7C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五项核心功能：从看见痛点到拿到下一代产品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完整覆盖 体检 → 洞察 → 溯源 → 进化 → 上市 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01 · 方案概述</a:t>
            </a:r>
          </a:p>
        </p:txBody>
      </p:sp>
      <p:pic>
        <p:nvPicPr>
          <p:cNvPr id="7" name="Picture 6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835640" cy="4985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4F7C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方案亮点与预期效果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业务价值 · 创新性 · 可行性 三线并进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01 · 方案概述</a:t>
            </a:r>
          </a:p>
        </p:txBody>
      </p:sp>
      <p:pic>
        <p:nvPicPr>
          <p:cNvPr id="7" name="Picture 6" descr="highl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07008"/>
            <a:ext cx="10149840" cy="5284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4F7C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产品演示：五大交互页面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React + ECharts 已全部实现 · 中英双语 · 3D 可交互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01 · 方案概述</a:t>
            </a:r>
          </a:p>
        </p:txBody>
      </p:sp>
      <p:pic>
        <p:nvPicPr>
          <p:cNvPr id="7" name="Picture 6" descr="shot_m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223760" cy="4063365"/>
          </a:xfrm>
          <a:prstGeom prst="rect">
            <a:avLst/>
          </a:prstGeom>
        </p:spPr>
      </p:pic>
      <p:pic>
        <p:nvPicPr>
          <p:cNvPr id="8" name="Picture 7" descr="shot_galax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1234440"/>
            <a:ext cx="1901952" cy="1069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82127" y="2386584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7C5CFC"/>
                </a:solidFill>
                <a:latin typeface="Microsoft YaHei"/>
              </a:rPr>
              <a:t>痛点星系 Galaxy</a:t>
            </a:r>
          </a:p>
        </p:txBody>
      </p:sp>
      <p:pic>
        <p:nvPicPr>
          <p:cNvPr id="10" name="Picture 9" descr="shot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07" y="1234440"/>
            <a:ext cx="1901952" cy="1069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93807" y="2386584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9B5D1"/>
                </a:solidFill>
                <a:latin typeface="Microsoft YaHei"/>
              </a:rPr>
              <a:t>评论证据 Evidence</a:t>
            </a:r>
          </a:p>
        </p:txBody>
      </p:sp>
      <p:pic>
        <p:nvPicPr>
          <p:cNvPr id="12" name="Picture 11" descr="shot_evol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7" y="2770632"/>
            <a:ext cx="1901952" cy="1069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82127" y="3922776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9F43"/>
                </a:solidFill>
                <a:latin typeface="Microsoft YaHei"/>
              </a:rPr>
              <a:t>产品进化 Evolution</a:t>
            </a:r>
          </a:p>
        </p:txBody>
      </p:sp>
      <p:pic>
        <p:nvPicPr>
          <p:cNvPr id="14" name="Picture 13" descr="shot_lau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07" y="2770632"/>
            <a:ext cx="1901952" cy="1069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93807" y="3922776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F6A9A"/>
                </a:solidFill>
                <a:latin typeface="Microsoft YaHei"/>
              </a:rPr>
              <a:t>上市素材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25237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4F7CFF"/>
                </a:solidFill>
                <a:latin typeface="Microsoft YaHei"/>
              </a:rPr>
              <a:t>产品体检 MRI（首页）· 健康分 / 痛点地形图 / 评论动态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C5CFC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系统架构：五层逻辑结构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数据 → 分析 → 决策 → 服务 → 可视化 · 单机可跑，云上可扩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02 · 技术方案</a:t>
            </a:r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10927080" cy="6216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C5CFC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AI Agent 工作流：六个 Agent 流水线协作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编排指挥 + 五个专职 Agent · LLM 可插拔 · 启发式兜底可离线运行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02 · 技术方案</a:t>
            </a:r>
          </a:p>
        </p:txBody>
      </p:sp>
      <p:pic>
        <p:nvPicPr>
          <p:cNvPr id="7" name="Picture 6" descr="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10835640" cy="57697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C5CFC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数据处理方式：六阶段收敛管道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5,719 万条原始评论 → 128 条工程建议 · 每步可复现、可审计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02 · 技术方案</a:t>
            </a:r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52760" cy="5415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C5CFC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进化闭环 &amp; 技术组件全景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六步闭环让差评变工程决策 · 前后端与基础设施分层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02 · 技术方案</a:t>
            </a:r>
          </a:p>
        </p:txBody>
      </p:sp>
      <p:pic>
        <p:nvPicPr>
          <p:cNvPr id="7" name="Picture 6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574810" cy="5120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1371600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64008" cy="841248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7CFF"/>
                </a:solidFill>
                <a:latin typeface="Microsoft YaHei"/>
              </a:rPr>
              <a:t>L5 前端层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773936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React 18 · TypeScript · ECharts / GL · Tailwind · 自研 i18n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340864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340864"/>
            <a:ext cx="64008" cy="841248"/>
          </a:xfrm>
          <a:prstGeom prst="rect">
            <a:avLst/>
          </a:prstGeom>
          <a:solidFill>
            <a:srgbClr val="19B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41401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9B5D1"/>
                </a:solidFill>
                <a:latin typeface="Microsoft YaHei"/>
              </a:rPr>
              <a:t>L4 后端层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743200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Python · FastAPI · REST · 健康检查与冷启动重试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310128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310128"/>
            <a:ext cx="64008" cy="841248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3832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7C5CFC"/>
                </a:solidFill>
                <a:latin typeface="Microsoft YaHei"/>
              </a:rPr>
              <a:t>L3 模型层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712464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可插拔 LLM：Mock / Qwen / OpenAI 兼容 · 降级策略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79392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279392"/>
            <a:ext cx="64008" cy="841248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435254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9F43"/>
                </a:solidFill>
                <a:latin typeface="Microsoft YaHei"/>
              </a:rPr>
              <a:t>L2 算法层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681728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scikit-learn TF-IDF + KMeans · 轮廓系数 · 可选 Embedding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5248656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5248656"/>
            <a:ext cx="64008" cy="841248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53218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4B47E"/>
                </a:solidFill>
                <a:latin typeface="Microsoft YaHei"/>
              </a:rPr>
              <a:t>L1 数据层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5650992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Parquet + DuckDB + Pandas · JSON 产物层 &lt; 10GB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623620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</a:rPr>
              <a:t>单机笔记本可全流程运行 · 配置 Key 后一键切换真实 LLM 推理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C5CFC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7863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落地成果与下一步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7863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已跑通 25 个真实商品全流程 · Hero 商品完成 V1→V2 参数进化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347472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PART 02 · 技术方案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94360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4F7CFF"/>
                </a:solidFill>
                <a:latin typeface="Microsoft YaHei"/>
              </a:rPr>
              <a:t>16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44054"/>
                </a:solidFill>
                <a:latin typeface="Microsoft YaHei"/>
              </a:rPr>
              <a:t>验收清单全部通过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594360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7C5CFC"/>
                </a:solidFill>
                <a:latin typeface="Microsoft YaHei"/>
              </a:rPr>
              <a:t>B07C533XCW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6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44054"/>
                </a:solidFill>
                <a:latin typeface="Microsoft YaHei"/>
              </a:rPr>
              <a:t>Hero 商品（喷雾瓶）5 大痛点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02736"/>
            <a:ext cx="594360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12464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9F43"/>
                </a:solidFill>
                <a:latin typeface="Microsoft YaHei"/>
              </a:rPr>
              <a:t>10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4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44054"/>
                </a:solidFill>
                <a:latin typeface="Microsoft YaHei"/>
              </a:rPr>
              <a:t>V2 参数级改进（P0 优先级）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18304"/>
            <a:ext cx="594360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4B47E"/>
                </a:solidFill>
                <a:latin typeface="Microsoft YaHei"/>
              </a:rPr>
              <a:t>50 条 / 痛点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8523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44054"/>
                </a:solidFill>
                <a:latin typeface="Microsoft YaHei"/>
              </a:rPr>
              <a:t>证据评论可溯源分页浏览</a:t>
            </a:r>
          </a:p>
        </p:txBody>
      </p:sp>
      <p:pic>
        <p:nvPicPr>
          <p:cNvPr id="19" name="Picture 18" descr="shot_gala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4983480" cy="28032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20840" y="4229671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7C5CFC"/>
                </a:solidFill>
                <a:latin typeface="Microsoft YaHei"/>
              </a:rPr>
              <a:t>痛点星系页实测 · 3D 可交互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709160"/>
            <a:ext cx="4983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828032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72033"/>
                </a:solidFill>
                <a:latin typeface="Microsoft YaHei"/>
              </a:rPr>
              <a:t>下一步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5157216"/>
            <a:ext cx="4526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· 接入实时评论源，扩大到 100+ ASIN 品类验证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· 多平台扩展（Amazon / Temu / Shopee）+ A/B 上市跟踪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344054"/>
                </a:solidFill>
                <a:latin typeface="Microsoft YaHei"/>
              </a:rPr>
              <a:t>· 升级 Embedding 语义聚类与 Agent 自主规划能力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Review2Product · 全球消费者评论驱动的产品进化智能体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